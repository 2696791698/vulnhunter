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heade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header_rul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666750" y="247650"/>
            <a:ext cx="1333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Microsoft YaHei"/>
              </a:rPr>
              <a:t>VulnHunter 系统总体架构</a:t>
            </a:r>
          </a:p>
        </p:txBody>
      </p:sp>
      <p:sp>
        <p:nvSpPr>
          <p:cNvPr id="6" name="drawio2pptx:shape:subtitle"/>
          <p:cNvSpPr/>
          <p:nvPr/>
        </p:nvSpPr>
        <p:spPr>
          <a:xfrm>
            <a:off x="666750" y="733425"/>
            <a:ext cx="13525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DCE4F1"/>
                </a:solidFill>
                <a:latin typeface="Microsoft YaHei"/>
              </a:rPr>
              <a:t>静态分析提供线索，动态验证形成证据，黑板驱动审计闭环。</a:t>
            </a:r>
          </a:p>
        </p:txBody>
      </p:sp>
      <p:sp>
        <p:nvSpPr>
          <p:cNvPr id="7" name="drawio2pptx:shape:header_tag"/>
          <p:cNvSpPr/>
          <p:nvPr/>
        </p:nvSpPr>
        <p:spPr>
          <a:xfrm>
            <a:off x="14287500" y="457200"/>
            <a:ext cx="33337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DCE4F1"/>
                </a:solidFill>
                <a:latin typeface="Microsoft YaHei"/>
              </a:rPr>
              <a:t>SYSTEM ARCHITECTURE</a:t>
            </a:r>
          </a:p>
        </p:txBody>
      </p:sp>
      <p:sp>
        <p:nvSpPr>
          <p:cNvPr id="8" name="drawio2pptx:shape:web"/>
          <p:cNvSpPr/>
          <p:nvPr/>
        </p:nvSpPr>
        <p:spPr>
          <a:xfrm>
            <a:off x="666750" y="1762125"/>
            <a:ext cx="3857625" cy="1190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rawio2pptx:shape:web_title"/>
          <p:cNvSpPr/>
          <p:nvPr/>
        </p:nvSpPr>
        <p:spPr>
          <a:xfrm>
            <a:off x="876300" y="1895475"/>
            <a:ext cx="343852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Vue 3 Web 控制台</a:t>
            </a:r>
          </a:p>
        </p:txBody>
      </p:sp>
      <p:sp>
        <p:nvSpPr>
          <p:cNvPr id="10" name="drawio2pptx:shape:web_body_0"/>
          <p:cNvSpPr/>
          <p:nvPr/>
        </p:nvSpPr>
        <p:spPr>
          <a:xfrm>
            <a:off x="876300" y="2266950"/>
            <a:ext cx="34385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仓库 URL / Commit · 项目 / 函数</a:t>
            </a:r>
          </a:p>
        </p:txBody>
      </p:sp>
      <p:sp>
        <p:nvSpPr>
          <p:cNvPr id="11" name="drawio2pptx:shape:web_body_1"/>
          <p:cNvSpPr/>
          <p:nvPr/>
        </p:nvSpPr>
        <p:spPr>
          <a:xfrm>
            <a:off x="876300" y="2533650"/>
            <a:ext cx="34385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数据集评测 · 运行观测</a:t>
            </a:r>
          </a:p>
        </p:txBody>
      </p:sp>
      <p:sp>
        <p:nvSpPr>
          <p:cNvPr id="12" name="drawio2pptx:shape:bridge"/>
          <p:cNvSpPr/>
          <p:nvPr/>
        </p:nvSpPr>
        <p:spPr>
          <a:xfrm>
            <a:off x="5191125" y="1762125"/>
            <a:ext cx="7620000" cy="1190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rawio2pptx:shape:bridge_title"/>
          <p:cNvSpPr/>
          <p:nvPr/>
        </p:nvSpPr>
        <p:spPr>
          <a:xfrm>
            <a:off x="5400675" y="1895475"/>
            <a:ext cx="72009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FastAPI 服务桥与任务调度</a:t>
            </a:r>
          </a:p>
        </p:txBody>
      </p:sp>
      <p:sp>
        <p:nvSpPr>
          <p:cNvPr id="14" name="drawio2pptx:shape:bridge_body_0"/>
          <p:cNvSpPr/>
          <p:nvPr/>
        </p:nvSpPr>
        <p:spPr>
          <a:xfrm>
            <a:off x="5400675" y="2266950"/>
            <a:ext cx="72009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HTTP API · 工作队列 · 并发控制 · 仓库检出</a:t>
            </a:r>
          </a:p>
        </p:txBody>
      </p:sp>
      <p:sp>
        <p:nvSpPr>
          <p:cNvPr id="15" name="drawio2pptx:shape:bridge_body_1"/>
          <p:cNvSpPr/>
          <p:nvPr/>
        </p:nvSpPr>
        <p:spPr>
          <a:xfrm>
            <a:off x="5400675" y="2533650"/>
            <a:ext cx="72009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审计 / 评测调度 · 暂停 / 恢复 · 指标汇总</a:t>
            </a:r>
          </a:p>
        </p:txBody>
      </p:sp>
      <p:sp>
        <p:nvSpPr>
          <p:cNvPr id="16" name="drawio2pptx:shape:model"/>
          <p:cNvSpPr/>
          <p:nvPr/>
        </p:nvSpPr>
        <p:spPr>
          <a:xfrm>
            <a:off x="13525500" y="1762125"/>
            <a:ext cx="4095750" cy="1190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model_title"/>
          <p:cNvSpPr/>
          <p:nvPr/>
        </p:nvSpPr>
        <p:spPr>
          <a:xfrm>
            <a:off x="13735050" y="1895475"/>
            <a:ext cx="36766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共享模型接入</a:t>
            </a:r>
          </a:p>
        </p:txBody>
      </p:sp>
      <p:sp>
        <p:nvSpPr>
          <p:cNvPr id="18" name="drawio2pptx:shape:model_body_0"/>
          <p:cNvSpPr/>
          <p:nvPr/>
        </p:nvSpPr>
        <p:spPr>
          <a:xfrm>
            <a:off x="13735050" y="2266950"/>
            <a:ext cx="3676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OpenAI 兼容 API · 可配置推理</a:t>
            </a:r>
          </a:p>
        </p:txBody>
      </p:sp>
      <p:sp>
        <p:nvSpPr>
          <p:cNvPr id="19" name="drawio2pptx:shape:model_body_1"/>
          <p:cNvSpPr/>
          <p:nvPr/>
        </p:nvSpPr>
        <p:spPr>
          <a:xfrm>
            <a:off x="13735050" y="2533650"/>
            <a:ext cx="3676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主 Agent / executor / 结果整理</a:t>
            </a:r>
          </a:p>
        </p:txBody>
      </p:sp>
      <p:sp>
        <p:nvSpPr>
          <p:cNvPr id="20" name="drawio2pptx:shape:static"/>
          <p:cNvSpPr/>
          <p:nvPr/>
        </p:nvSpPr>
        <p:spPr>
          <a:xfrm>
            <a:off x="666750" y="3238500"/>
            <a:ext cx="3857625" cy="4476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core"/>
          <p:cNvSpPr/>
          <p:nvPr/>
        </p:nvSpPr>
        <p:spPr>
          <a:xfrm>
            <a:off x="5191125" y="3238500"/>
            <a:ext cx="7620000" cy="4476750"/>
          </a:xfrm>
          <a:prstGeom prst="roundRect">
            <a:avLst/>
          </a:prstGeom>
          <a:solidFill>
            <a:srgbClr val="EEF2F8"/>
          </a:solidFill>
          <a:ln w="17145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rawio2pptx:shape:output"/>
          <p:cNvSpPr/>
          <p:nvPr/>
        </p:nvSpPr>
        <p:spPr>
          <a:xfrm>
            <a:off x="13525500" y="3238500"/>
            <a:ext cx="4095750" cy="4476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rawio2pptx:shape:static_heading"/>
          <p:cNvSpPr/>
          <p:nvPr/>
        </p:nvSpPr>
        <p:spPr>
          <a:xfrm>
            <a:off x="895350" y="3371850"/>
            <a:ext cx="3476625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01  静态分析与代码上下文</a:t>
            </a:r>
          </a:p>
        </p:txBody>
      </p:sp>
      <p:sp>
        <p:nvSpPr>
          <p:cNvPr id="24" name="drawio2pptx:shape:core_heading"/>
          <p:cNvSpPr/>
          <p:nvPr/>
        </p:nvSpPr>
        <p:spPr>
          <a:xfrm>
            <a:off x="5429250" y="3371850"/>
            <a:ext cx="51435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02  审计与验证闭环</a:t>
            </a:r>
          </a:p>
        </p:txBody>
      </p:sp>
      <p:sp>
        <p:nvSpPr>
          <p:cNvPr id="25" name="drawio2pptx:shape:core_framework"/>
          <p:cNvSpPr/>
          <p:nvPr/>
        </p:nvSpPr>
        <p:spPr>
          <a:xfrm>
            <a:off x="10744200" y="3390900"/>
            <a:ext cx="184785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Deep Agents / LangGraph</a:t>
            </a:r>
          </a:p>
        </p:txBody>
      </p:sp>
      <p:sp>
        <p:nvSpPr>
          <p:cNvPr id="26" name="drawio2pptx:shape:output_heading"/>
          <p:cNvSpPr/>
          <p:nvPr/>
        </p:nvSpPr>
        <p:spPr>
          <a:xfrm>
            <a:off x="13763625" y="3371850"/>
            <a:ext cx="3571875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03  结构化输出</a:t>
            </a:r>
          </a:p>
        </p:txBody>
      </p:sp>
      <p:sp>
        <p:nvSpPr>
          <p:cNvPr id="27" name="drawio2pptx:shape:files"/>
          <p:cNvSpPr/>
          <p:nvPr/>
        </p:nvSpPr>
        <p:spPr>
          <a:xfrm>
            <a:off x="904875" y="3857625"/>
            <a:ext cx="3381375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rawio2pptx:shape:files_title"/>
          <p:cNvSpPr/>
          <p:nvPr/>
        </p:nvSpPr>
        <p:spPr>
          <a:xfrm>
            <a:off x="1114425" y="3990975"/>
            <a:ext cx="29622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目标仓库上下文</a:t>
            </a:r>
          </a:p>
        </p:txBody>
      </p:sp>
      <p:sp>
        <p:nvSpPr>
          <p:cNvPr id="29" name="drawio2pptx:shape:files_body_0"/>
          <p:cNvSpPr/>
          <p:nvPr/>
        </p:nvSpPr>
        <p:spPr>
          <a:xfrm>
            <a:off x="1114425" y="4362450"/>
            <a:ext cx="29622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只读文件检索 · 调用方约束</a:t>
            </a:r>
          </a:p>
        </p:txBody>
      </p:sp>
      <p:sp>
        <p:nvSpPr>
          <p:cNvPr id="30" name="drawio2pptx:shape:codeql"/>
          <p:cNvSpPr/>
          <p:nvPr/>
        </p:nvSpPr>
        <p:spPr>
          <a:xfrm>
            <a:off x="904875" y="4810125"/>
            <a:ext cx="3381375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rawio2pptx:shape:codeql_title"/>
          <p:cNvSpPr/>
          <p:nvPr/>
        </p:nvSpPr>
        <p:spPr>
          <a:xfrm>
            <a:off x="1114425" y="4943475"/>
            <a:ext cx="29622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CodeQL</a:t>
            </a:r>
          </a:p>
        </p:txBody>
      </p:sp>
      <p:sp>
        <p:nvSpPr>
          <p:cNvPr id="32" name="drawio2pptx:shape:codeql_body_0"/>
          <p:cNvSpPr/>
          <p:nvPr/>
        </p:nvSpPr>
        <p:spPr>
          <a:xfrm>
            <a:off x="1114425" y="5314950"/>
            <a:ext cx="29622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查询执行 · 数据流分析</a:t>
            </a:r>
          </a:p>
        </p:txBody>
      </p:sp>
      <p:sp>
        <p:nvSpPr>
          <p:cNvPr id="33" name="drawio2pptx:shape:semgrep"/>
          <p:cNvSpPr/>
          <p:nvPr/>
        </p:nvSpPr>
        <p:spPr>
          <a:xfrm>
            <a:off x="904875" y="5715000"/>
            <a:ext cx="3381375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rawio2pptx:shape:semgrep_title"/>
          <p:cNvSpPr/>
          <p:nvPr/>
        </p:nvSpPr>
        <p:spPr>
          <a:xfrm>
            <a:off x="1114425" y="5848350"/>
            <a:ext cx="29622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Semgrep</a:t>
            </a:r>
          </a:p>
        </p:txBody>
      </p:sp>
      <p:sp>
        <p:nvSpPr>
          <p:cNvPr id="35" name="drawio2pptx:shape:semgrep_body_0"/>
          <p:cNvSpPr/>
          <p:nvPr/>
        </p:nvSpPr>
        <p:spPr>
          <a:xfrm>
            <a:off x="1114425" y="6219825"/>
            <a:ext cx="29622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规则扫描 · 可疑代码定位</a:t>
            </a:r>
          </a:p>
        </p:txBody>
      </p:sp>
      <p:sp>
        <p:nvSpPr>
          <p:cNvPr id="36" name="drawio2pptx:shape:codebadger"/>
          <p:cNvSpPr/>
          <p:nvPr/>
        </p:nvSpPr>
        <p:spPr>
          <a:xfrm>
            <a:off x="904875" y="6619875"/>
            <a:ext cx="3381375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awio2pptx:shape:codebadger_title"/>
          <p:cNvSpPr/>
          <p:nvPr/>
        </p:nvSpPr>
        <p:spPr>
          <a:xfrm>
            <a:off x="1114425" y="6753225"/>
            <a:ext cx="29622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CodeBadger / Joern</a:t>
            </a:r>
          </a:p>
        </p:txBody>
      </p:sp>
      <p:sp>
        <p:nvSpPr>
          <p:cNvPr id="38" name="drawio2pptx:shape:codebadger_body_0"/>
          <p:cNvSpPr/>
          <p:nvPr/>
        </p:nvSpPr>
        <p:spPr>
          <a:xfrm>
            <a:off x="1114425" y="7124700"/>
            <a:ext cx="29622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CPG · 调用链 · 污点路径</a:t>
            </a:r>
          </a:p>
        </p:txBody>
      </p:sp>
      <p:sp>
        <p:nvSpPr>
          <p:cNvPr id="39" name="drawio2pptx:shape:main_agent"/>
          <p:cNvSpPr/>
          <p:nvPr/>
        </p:nvSpPr>
        <p:spPr>
          <a:xfrm>
            <a:off x="5572125" y="3857625"/>
            <a:ext cx="3143250" cy="13335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A7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awio2pptx:shape:main_agent_title"/>
          <p:cNvSpPr/>
          <p:nvPr/>
        </p:nvSpPr>
        <p:spPr>
          <a:xfrm>
            <a:off x="5781675" y="3990975"/>
            <a:ext cx="2724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主审计 Agent</a:t>
            </a:r>
          </a:p>
        </p:txBody>
      </p:sp>
      <p:sp>
        <p:nvSpPr>
          <p:cNvPr id="41" name="drawio2pptx:shape:main_agent_body_0"/>
          <p:cNvSpPr/>
          <p:nvPr/>
        </p:nvSpPr>
        <p:spPr>
          <a:xfrm>
            <a:off x="5781675" y="4362450"/>
            <a:ext cx="2724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读取上下文 · 更新漏洞假设</a:t>
            </a:r>
          </a:p>
        </p:txBody>
      </p:sp>
      <p:sp>
        <p:nvSpPr>
          <p:cNvPr id="42" name="drawio2pptx:shape:main_agent_body_1"/>
          <p:cNvSpPr/>
          <p:nvPr/>
        </p:nvSpPr>
        <p:spPr>
          <a:xfrm>
            <a:off x="5781675" y="4629150"/>
            <a:ext cx="2724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规划验证 · 根据证据继续推理</a:t>
            </a:r>
          </a:p>
        </p:txBody>
      </p:sp>
      <p:sp>
        <p:nvSpPr>
          <p:cNvPr id="43" name="drawio2pptx:shape:executor"/>
          <p:cNvSpPr/>
          <p:nvPr/>
        </p:nvSpPr>
        <p:spPr>
          <a:xfrm>
            <a:off x="9477375" y="3857625"/>
            <a:ext cx="2857500" cy="13335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A7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awio2pptx:shape:executor_title"/>
          <p:cNvSpPr/>
          <p:nvPr/>
        </p:nvSpPr>
        <p:spPr>
          <a:xfrm>
            <a:off x="9686925" y="3990975"/>
            <a:ext cx="2438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执行 Agent</a:t>
            </a:r>
          </a:p>
        </p:txBody>
      </p:sp>
      <p:sp>
        <p:nvSpPr>
          <p:cNvPr id="45" name="drawio2pptx:shape:executor_body_0"/>
          <p:cNvSpPr/>
          <p:nvPr/>
        </p:nvSpPr>
        <p:spPr>
          <a:xfrm>
            <a:off x="9686925" y="4362450"/>
            <a:ext cx="2438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executor · 接收验证计划</a:t>
            </a:r>
          </a:p>
        </p:txBody>
      </p:sp>
      <p:sp>
        <p:nvSpPr>
          <p:cNvPr id="46" name="drawio2pptx:shape:executor_body_1"/>
          <p:cNvSpPr/>
          <p:nvPr/>
        </p:nvSpPr>
        <p:spPr>
          <a:xfrm>
            <a:off x="9686925" y="4629150"/>
            <a:ext cx="2438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容器工具 + 追加黑板工具</a:t>
            </a:r>
          </a:p>
        </p:txBody>
      </p:sp>
      <p:sp>
        <p:nvSpPr>
          <p:cNvPr id="47" name="drawio2pptx:shape:blackboard"/>
          <p:cNvSpPr/>
          <p:nvPr/>
        </p:nvSpPr>
        <p:spPr>
          <a:xfrm>
            <a:off x="5572125" y="5953125"/>
            <a:ext cx="3143250" cy="1143000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awio2pptx:shape:blackboard_title"/>
          <p:cNvSpPr/>
          <p:nvPr/>
        </p:nvSpPr>
        <p:spPr>
          <a:xfrm>
            <a:off x="5781675" y="6086475"/>
            <a:ext cx="2724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追加式证据黑板</a:t>
            </a:r>
          </a:p>
        </p:txBody>
      </p:sp>
      <p:sp>
        <p:nvSpPr>
          <p:cNvPr id="49" name="drawio2pptx:shape:blackboard_body_0"/>
          <p:cNvSpPr/>
          <p:nvPr/>
        </p:nvSpPr>
        <p:spPr>
          <a:xfrm>
            <a:off x="5781675" y="6457950"/>
            <a:ext cx="2724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事实事件 · EvidenceRef</a:t>
            </a:r>
          </a:p>
        </p:txBody>
      </p:sp>
      <p:sp>
        <p:nvSpPr>
          <p:cNvPr id="50" name="drawio2pptx:shape:blackboard_body_1"/>
          <p:cNvSpPr/>
          <p:nvPr/>
        </p:nvSpPr>
        <p:spPr>
          <a:xfrm>
            <a:off x="5781675" y="6724650"/>
            <a:ext cx="2724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按 ID 合并 · 每轮回注主 Agent</a:t>
            </a:r>
          </a:p>
        </p:txBody>
      </p:sp>
      <p:sp>
        <p:nvSpPr>
          <p:cNvPr id="51" name="drawio2pptx:shape:docker"/>
          <p:cNvSpPr/>
          <p:nvPr/>
        </p:nvSpPr>
        <p:spPr>
          <a:xfrm>
            <a:off x="9477375" y="5953125"/>
            <a:ext cx="2857500" cy="1143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rawio2pptx:shape:docker_title"/>
          <p:cNvSpPr/>
          <p:nvPr/>
        </p:nvSpPr>
        <p:spPr>
          <a:xfrm>
            <a:off x="9686925" y="6086475"/>
            <a:ext cx="2438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任务专属 Docker 容器</a:t>
            </a:r>
          </a:p>
        </p:txBody>
      </p:sp>
      <p:sp>
        <p:nvSpPr>
          <p:cNvPr id="53" name="drawio2pptx:shape:docker_body_0"/>
          <p:cNvSpPr/>
          <p:nvPr/>
        </p:nvSpPr>
        <p:spPr>
          <a:xfrm>
            <a:off x="9686925" y="6457950"/>
            <a:ext cx="2438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docker-mcp · /workspace</a:t>
            </a:r>
          </a:p>
        </p:txBody>
      </p:sp>
      <p:sp>
        <p:nvSpPr>
          <p:cNvPr id="54" name="drawio2pptx:shape:docker_body_1"/>
          <p:cNvSpPr/>
          <p:nvPr/>
        </p:nvSpPr>
        <p:spPr>
          <a:xfrm>
            <a:off x="9686925" y="6724650"/>
            <a:ext cx="2438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环境准备 · PoC · 影响观察</a:t>
            </a:r>
          </a:p>
        </p:txBody>
      </p:sp>
      <p:sp>
        <p:nvSpPr>
          <p:cNvPr id="55" name="drawio2pptx:shape:core_note"/>
          <p:cNvSpPr/>
          <p:nvPr/>
        </p:nvSpPr>
        <p:spPr>
          <a:xfrm>
            <a:off x="5524500" y="7296150"/>
            <a:ext cx="6858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静态工具和动态验证按需调用，已确认事实指导后续审计。</a:t>
            </a:r>
          </a:p>
        </p:txBody>
      </p:sp>
      <p:sp>
        <p:nvSpPr>
          <p:cNvPr id="56" name="drawio2pptx:shape:finalizer"/>
          <p:cNvSpPr/>
          <p:nvPr/>
        </p:nvSpPr>
        <p:spPr>
          <a:xfrm>
            <a:off x="13906500" y="3857625"/>
            <a:ext cx="3333750" cy="1381125"/>
          </a:xfrm>
          <a:prstGeom prst="roundRect">
            <a:avLst/>
          </a:prstGeom>
          <a:solidFill>
            <a:srgbClr val="EEF2F8"/>
          </a:solidFill>
          <a:ln w="14287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rawio2pptx:shape:finalizer_title"/>
          <p:cNvSpPr/>
          <p:nvPr/>
        </p:nvSpPr>
        <p:spPr>
          <a:xfrm>
            <a:off x="14116050" y="3990975"/>
            <a:ext cx="29146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结构化结果整理</a:t>
            </a:r>
          </a:p>
        </p:txBody>
      </p:sp>
      <p:sp>
        <p:nvSpPr>
          <p:cNvPr id="58" name="drawio2pptx:shape:finalizer_body_0"/>
          <p:cNvSpPr/>
          <p:nvPr/>
        </p:nvSpPr>
        <p:spPr>
          <a:xfrm>
            <a:off x="14116050" y="4362450"/>
            <a:ext cx="2914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主 Agent 结论 + 黑板事实</a:t>
            </a:r>
          </a:p>
        </p:txBody>
      </p:sp>
      <p:sp>
        <p:nvSpPr>
          <p:cNvPr id="59" name="drawio2pptx:shape:finalizer_body_1"/>
          <p:cNvSpPr/>
          <p:nvPr/>
        </p:nvSpPr>
        <p:spPr>
          <a:xfrm>
            <a:off x="14116050" y="4629150"/>
            <a:ext cx="2914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函数调用 → AuditAssessment</a:t>
            </a:r>
          </a:p>
        </p:txBody>
      </p:sp>
      <p:sp>
        <p:nvSpPr>
          <p:cNvPr id="60" name="drawio2pptx:shape:assessment"/>
          <p:cNvSpPr/>
          <p:nvPr/>
        </p:nvSpPr>
        <p:spPr>
          <a:xfrm>
            <a:off x="13906500" y="5953125"/>
            <a:ext cx="3333750" cy="1143000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rawio2pptx:shape:assessment_title"/>
          <p:cNvSpPr/>
          <p:nvPr/>
        </p:nvSpPr>
        <p:spPr>
          <a:xfrm>
            <a:off x="14116050" y="6086475"/>
            <a:ext cx="29146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结构化审计结果</a:t>
            </a:r>
          </a:p>
        </p:txBody>
      </p:sp>
      <p:sp>
        <p:nvSpPr>
          <p:cNvPr id="62" name="drawio2pptx:shape:assessment_body_0"/>
          <p:cNvSpPr/>
          <p:nvPr/>
        </p:nvSpPr>
        <p:spPr>
          <a:xfrm>
            <a:off x="14116050" y="6457950"/>
            <a:ext cx="2914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verdict ∈ {0, 1}</a:t>
            </a:r>
          </a:p>
        </p:txBody>
      </p:sp>
      <p:sp>
        <p:nvSpPr>
          <p:cNvPr id="63" name="drawio2pptx:shape:assessment_body_1"/>
          <p:cNvSpPr/>
          <p:nvPr/>
        </p:nvSpPr>
        <p:spPr>
          <a:xfrm>
            <a:off x="14116050" y="6724650"/>
            <a:ext cx="2914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复现报告 · 步骤 · 证据 · PoC</a:t>
            </a:r>
          </a:p>
        </p:txBody>
      </p:sp>
      <p:sp>
        <p:nvSpPr>
          <p:cNvPr id="64" name="drawio2pptx:shape:verdict_policy"/>
          <p:cNvSpPr/>
          <p:nvPr/>
        </p:nvSpPr>
        <p:spPr>
          <a:xfrm>
            <a:off x="13763625" y="7296150"/>
            <a:ext cx="36195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判定策略：攻击成功并观察到影响 → verdict = 1</a:t>
            </a:r>
          </a:p>
        </p:txBody>
      </p:sp>
      <p:sp>
        <p:nvSpPr>
          <p:cNvPr id="65" name="drawio2pptx:shape:support"/>
          <p:cNvSpPr/>
          <p:nvPr/>
        </p:nvSpPr>
        <p:spPr>
          <a:xfrm>
            <a:off x="666750" y="8191500"/>
            <a:ext cx="16954500" cy="1476375"/>
          </a:xfrm>
          <a:prstGeom prst="roundRect">
            <a:avLst/>
          </a:prstGeom>
          <a:solidFill>
            <a:srgbClr val="EEF1F5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rawio2pptx:shape:support_heading"/>
          <p:cNvSpPr/>
          <p:nvPr/>
        </p:nvSpPr>
        <p:spPr>
          <a:xfrm>
            <a:off x="904875" y="8315325"/>
            <a:ext cx="9525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运行支撑与可观测性</a:t>
            </a:r>
          </a:p>
        </p:txBody>
      </p:sp>
      <p:sp>
        <p:nvSpPr>
          <p:cNvPr id="67" name="drawio2pptx:shape:journals"/>
          <p:cNvSpPr/>
          <p:nvPr/>
        </p:nvSpPr>
        <p:spPr>
          <a:xfrm>
            <a:off x="904875" y="8715375"/>
            <a:ext cx="5143500" cy="809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rawio2pptx:shape:journals_title"/>
          <p:cNvSpPr/>
          <p:nvPr/>
        </p:nvSpPr>
        <p:spPr>
          <a:xfrm>
            <a:off x="1114425" y="8848725"/>
            <a:ext cx="4724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任务与结果日志</a:t>
            </a:r>
          </a:p>
        </p:txBody>
      </p:sp>
      <p:sp>
        <p:nvSpPr>
          <p:cNvPr id="69" name="drawio2pptx:shape:journals_body_0"/>
          <p:cNvSpPr/>
          <p:nvPr/>
        </p:nvSpPr>
        <p:spPr>
          <a:xfrm>
            <a:off x="1114425" y="9220200"/>
            <a:ext cx="4724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审计任务 / 评测样例 · JSONL</a:t>
            </a:r>
          </a:p>
        </p:txBody>
      </p:sp>
      <p:sp>
        <p:nvSpPr>
          <p:cNvPr id="70" name="drawio2pptx:shape:traces"/>
          <p:cNvSpPr/>
          <p:nvPr/>
        </p:nvSpPr>
        <p:spPr>
          <a:xfrm>
            <a:off x="6334125" y="8715375"/>
            <a:ext cx="5143500" cy="809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rawio2pptx:shape:traces_title"/>
          <p:cNvSpPr/>
          <p:nvPr/>
        </p:nvSpPr>
        <p:spPr>
          <a:xfrm>
            <a:off x="6543675" y="8848725"/>
            <a:ext cx="4724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Trace 观测与归档</a:t>
            </a:r>
          </a:p>
        </p:txBody>
      </p:sp>
      <p:sp>
        <p:nvSpPr>
          <p:cNvPr id="72" name="drawio2pptx:shape:traces_body_0"/>
          <p:cNvSpPr/>
          <p:nvPr/>
        </p:nvSpPr>
        <p:spPr>
          <a:xfrm>
            <a:off x="6543675" y="9220200"/>
            <a:ext cx="4724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Agent / 工具事件 · Token 用量</a:t>
            </a:r>
          </a:p>
        </p:txBody>
      </p:sp>
      <p:sp>
        <p:nvSpPr>
          <p:cNvPr id="73" name="drawio2pptx:shape:lifecycle"/>
          <p:cNvSpPr/>
          <p:nvPr/>
        </p:nvSpPr>
        <p:spPr>
          <a:xfrm>
            <a:off x="11763375" y="8715375"/>
            <a:ext cx="5619750" cy="809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rawio2pptx:shape:lifecycle_title"/>
          <p:cNvSpPr/>
          <p:nvPr/>
        </p:nvSpPr>
        <p:spPr>
          <a:xfrm>
            <a:off x="11972925" y="8848725"/>
            <a:ext cx="52006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运行与资源生命周期</a:t>
            </a:r>
          </a:p>
        </p:txBody>
      </p:sp>
      <p:sp>
        <p:nvSpPr>
          <p:cNvPr id="75" name="drawio2pptx:shape:lifecycle_body_0"/>
          <p:cNvSpPr/>
          <p:nvPr/>
        </p:nvSpPr>
        <p:spPr>
          <a:xfrm>
            <a:off x="11972925" y="9220200"/>
            <a:ext cx="52006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并发限制 · 容器清理 · CPG / Joern 释放</a:t>
            </a:r>
          </a:p>
        </p:txBody>
      </p:sp>
      <p:cxnSp>
        <p:nvCxnSpPr>
          <p:cNvPr id="76" name="drawio2pptx:connector:web_api"/>
          <p:cNvCxnSpPr/>
          <p:nvPr/>
        </p:nvCxnSpPr>
        <p:spPr>
          <a:xfrm>
            <a:off x="4524375" y="2343150"/>
            <a:ext cx="666750" cy="0"/>
          </a:xfrm>
          <a:prstGeom prst="line">
            <a:avLst/>
          </a:prstGeom>
          <a:ln w="20955">
            <a:solidFill>
              <a:srgbClr val="1B2A4A"/>
            </a:solidFill>
            <a:headEnd type="stealth" w="med" len="med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drawio2pptx:shape:api_label"/>
          <p:cNvSpPr/>
          <p:nvPr/>
        </p:nvSpPr>
        <p:spPr>
          <a:xfrm>
            <a:off x="4619625" y="1990725"/>
            <a:ext cx="4953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API</a:t>
            </a:r>
          </a:p>
        </p:txBody>
      </p:sp>
      <p:cxnSp>
        <p:nvCxnSpPr>
          <p:cNvPr id="78" name="drawio2pptx:connector:audit_task"/>
          <p:cNvCxnSpPr/>
          <p:nvPr/>
        </p:nvCxnSpPr>
        <p:spPr>
          <a:xfrm>
            <a:off x="9001125" y="2952750"/>
            <a:ext cx="0" cy="28575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drawio2pptx:shape:task_label"/>
          <p:cNvSpPr/>
          <p:nvPr/>
        </p:nvSpPr>
        <p:spPr>
          <a:xfrm>
            <a:off x="9191625" y="2981325"/>
            <a:ext cx="104775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审计调用</a:t>
            </a:r>
          </a:p>
        </p:txBody>
      </p:sp>
      <p:cxnSp>
        <p:nvCxnSpPr>
          <p:cNvPr id="80" name="drawio2pptx:connector:static_tools"/>
          <p:cNvCxnSpPr/>
          <p:nvPr/>
        </p:nvCxnSpPr>
        <p:spPr>
          <a:xfrm>
            <a:off x="4524375" y="4524375"/>
            <a:ext cx="1047750" cy="0"/>
          </a:xfrm>
          <a:prstGeom prst="line">
            <a:avLst/>
          </a:prstGeom>
          <a:ln w="20955">
            <a:solidFill>
              <a:srgbClr val="1B2A4A"/>
            </a:solidFill>
            <a:headEnd type="stealth" w="med" len="med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rawio2pptx:shape:static_label"/>
          <p:cNvSpPr/>
          <p:nvPr/>
        </p:nvSpPr>
        <p:spPr>
          <a:xfrm>
            <a:off x="4610100" y="4162425"/>
            <a:ext cx="9144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线索 / 查询</a:t>
            </a:r>
          </a:p>
        </p:txBody>
      </p:sp>
      <p:cxnSp>
        <p:nvCxnSpPr>
          <p:cNvPr id="82" name="drawio2pptx:connector:delegation"/>
          <p:cNvCxnSpPr/>
          <p:nvPr/>
        </p:nvCxnSpPr>
        <p:spPr>
          <a:xfrm>
            <a:off x="8715375" y="4524375"/>
            <a:ext cx="762000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drawio2pptx:shape:delegation_label"/>
          <p:cNvSpPr/>
          <p:nvPr/>
        </p:nvSpPr>
        <p:spPr>
          <a:xfrm>
            <a:off x="8753475" y="4162425"/>
            <a:ext cx="6858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委派验证</a:t>
            </a:r>
          </a:p>
        </p:txBody>
      </p:sp>
      <p:cxnSp>
        <p:nvCxnSpPr>
          <p:cNvPr id="84" name="drawio2pptx:connector:docker_mcp"/>
          <p:cNvCxnSpPr/>
          <p:nvPr/>
        </p:nvCxnSpPr>
        <p:spPr>
          <a:xfrm>
            <a:off x="10906125" y="5191125"/>
            <a:ext cx="0" cy="762000"/>
          </a:xfrm>
          <a:prstGeom prst="line">
            <a:avLst/>
          </a:prstGeom>
          <a:ln w="20955">
            <a:solidFill>
              <a:srgbClr val="1B2A4A"/>
            </a:solidFill>
            <a:headEnd type="stealth" w="med" len="med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drawio2pptx:shape:docker_label"/>
          <p:cNvSpPr/>
          <p:nvPr/>
        </p:nvSpPr>
        <p:spPr>
          <a:xfrm>
            <a:off x="11096625" y="5381625"/>
            <a:ext cx="11239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docker-mcp</a:t>
            </a:r>
          </a:p>
        </p:txBody>
      </p:sp>
      <p:sp>
        <p:nvSpPr>
          <p:cNvPr id="86" name="drawio2pptx:connector:append_evidence"/>
          <p:cNvSpPr/>
          <p:nvPr/>
        </p:nvSpPr>
        <p:spPr>
          <a:xfrm>
            <a:off x="8191500" y="4810125"/>
            <a:ext cx="1285875" cy="1143000"/>
          </a:xfrm>
          <a:custGeom>
            <a:avLst/>
            <a:gdLst/>
            <a:ahLst/>
            <a:cxnLst/>
            <a:rect l="l" t="t" r="r" b="b"/>
            <a:pathLst>
              <a:path w="1285875" h="1143000">
                <a:moveTo>
                  <a:pt x="1285875" y="0"/>
                </a:moveTo>
                <a:lnTo>
                  <a:pt x="904875" y="0"/>
                </a:lnTo>
                <a:lnTo>
                  <a:pt x="904875" y="781050"/>
                </a:lnTo>
                <a:lnTo>
                  <a:pt x="0" y="781050"/>
                </a:lnTo>
                <a:lnTo>
                  <a:pt x="0" y="1143000"/>
                </a:lnTo>
              </a:path>
            </a:pathLst>
          </a:custGeom>
          <a:noFill/>
          <a:ln w="20955">
            <a:solidFill>
              <a:srgbClr val="C9A84C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rawio2pptx:shape:append_label"/>
          <p:cNvSpPr/>
          <p:nvPr/>
        </p:nvSpPr>
        <p:spPr>
          <a:xfrm>
            <a:off x="7381875" y="5257800"/>
            <a:ext cx="15811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80661E"/>
                </a:solidFill>
                <a:latin typeface="Microsoft YaHei"/>
              </a:rPr>
              <a:t>追加事实与证据</a:t>
            </a:r>
          </a:p>
        </p:txBody>
      </p:sp>
      <p:cxnSp>
        <p:nvCxnSpPr>
          <p:cNvPr id="88" name="drawio2pptx:connector:fact_feedback"/>
          <p:cNvCxnSpPr/>
          <p:nvPr/>
        </p:nvCxnSpPr>
        <p:spPr>
          <a:xfrm flipV="1">
            <a:off x="6762750" y="5191125"/>
            <a:ext cx="0" cy="762000"/>
          </a:xfrm>
          <a:prstGeom prst="line">
            <a:avLst/>
          </a:prstGeom>
          <a:ln w="20955">
            <a:solidFill>
              <a:srgbClr val="C9A84C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rawio2pptx:shape:feedback_label"/>
          <p:cNvSpPr/>
          <p:nvPr/>
        </p:nvSpPr>
        <p:spPr>
          <a:xfrm>
            <a:off x="5819775" y="5438775"/>
            <a:ext cx="8572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80661E"/>
                </a:solidFill>
                <a:latin typeface="Microsoft YaHei"/>
              </a:rPr>
              <a:t>事实回注</a:t>
            </a:r>
          </a:p>
        </p:txBody>
      </p:sp>
      <p:cxnSp>
        <p:nvCxnSpPr>
          <p:cNvPr id="90" name="drawio2pptx:connector:final_input"/>
          <p:cNvCxnSpPr/>
          <p:nvPr/>
        </p:nvCxnSpPr>
        <p:spPr>
          <a:xfrm>
            <a:off x="12811125" y="4524375"/>
            <a:ext cx="1095375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rawio2pptx:shape:final_input_label"/>
          <p:cNvSpPr/>
          <p:nvPr/>
        </p:nvSpPr>
        <p:spPr>
          <a:xfrm>
            <a:off x="12839700" y="4162425"/>
            <a:ext cx="10287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结论 + 黑板</a:t>
            </a:r>
          </a:p>
        </p:txBody>
      </p:sp>
      <p:cxnSp>
        <p:nvCxnSpPr>
          <p:cNvPr id="92" name="drawio2pptx:connector:validated_output"/>
          <p:cNvCxnSpPr/>
          <p:nvPr/>
        </p:nvCxnSpPr>
        <p:spPr>
          <a:xfrm>
            <a:off x="15573375" y="5238750"/>
            <a:ext cx="0" cy="714375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rawio2pptx:shape:validation_label"/>
          <p:cNvSpPr/>
          <p:nvPr/>
        </p:nvSpPr>
        <p:spPr>
          <a:xfrm>
            <a:off x="15763875" y="5419725"/>
            <a:ext cx="10668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字段校验</a:t>
            </a:r>
          </a:p>
        </p:txBody>
      </p:sp>
      <p:sp>
        <p:nvSpPr>
          <p:cNvPr id="94" name="drawio2pptx:connector:llm_core"/>
          <p:cNvSpPr/>
          <p:nvPr/>
        </p:nvSpPr>
        <p:spPr>
          <a:xfrm>
            <a:off x="12811125" y="2343150"/>
            <a:ext cx="714375" cy="1152525"/>
          </a:xfrm>
          <a:custGeom>
            <a:avLst/>
            <a:gdLst/>
            <a:ahLst/>
            <a:cxnLst/>
            <a:rect l="l" t="t" r="r" b="b"/>
            <a:pathLst>
              <a:path w="714375" h="1152525">
                <a:moveTo>
                  <a:pt x="714375" y="0"/>
                </a:moveTo>
                <a:lnTo>
                  <a:pt x="333375" y="0"/>
                </a:lnTo>
                <a:lnTo>
                  <a:pt x="333375" y="1152525"/>
                </a:lnTo>
                <a:lnTo>
                  <a:pt x="0" y="1152525"/>
                </a:lnTo>
              </a:path>
            </a:pathLst>
          </a:custGeom>
          <a:noFill/>
          <a:ln w="20955">
            <a:solidFill>
              <a:srgbClr val="4A5568"/>
            </a:solidFill>
            <a:prstDash val="dash"/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drawio2pptx:connector:llm_finalizer"/>
          <p:cNvCxnSpPr/>
          <p:nvPr/>
        </p:nvCxnSpPr>
        <p:spPr>
          <a:xfrm>
            <a:off x="15573375" y="2952750"/>
            <a:ext cx="0" cy="285750"/>
          </a:xfrm>
          <a:prstGeom prst="line">
            <a:avLst/>
          </a:prstGeom>
          <a:ln w="20955">
            <a:solidFill>
              <a:srgbClr val="4A5568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drawio2pptx:connector:trace_events"/>
          <p:cNvCxnSpPr/>
          <p:nvPr/>
        </p:nvCxnSpPr>
        <p:spPr>
          <a:xfrm>
            <a:off x="8905875" y="7715250"/>
            <a:ext cx="0" cy="476250"/>
          </a:xfrm>
          <a:prstGeom prst="line">
            <a:avLst/>
          </a:prstGeom>
          <a:ln w="20955">
            <a:solidFill>
              <a:srgbClr val="4A5568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drawio2pptx:shape:trace_label"/>
          <p:cNvSpPr/>
          <p:nvPr/>
        </p:nvSpPr>
        <p:spPr>
          <a:xfrm>
            <a:off x="9115425" y="7810500"/>
            <a:ext cx="10668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回调事件</a:t>
            </a:r>
          </a:p>
        </p:txBody>
      </p:sp>
      <p:cxnSp>
        <p:nvCxnSpPr>
          <p:cNvPr id="98" name="drawio2pptx:connector:result_archive"/>
          <p:cNvCxnSpPr/>
          <p:nvPr/>
        </p:nvCxnSpPr>
        <p:spPr>
          <a:xfrm>
            <a:off x="15573375" y="7715250"/>
            <a:ext cx="0" cy="476250"/>
          </a:xfrm>
          <a:prstGeom prst="line">
            <a:avLst/>
          </a:prstGeom>
          <a:ln w="20955">
            <a:solidFill>
              <a:srgbClr val="4A5568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rawio2pptx:shape:archive_label"/>
          <p:cNvSpPr/>
          <p:nvPr/>
        </p:nvSpPr>
        <p:spPr>
          <a:xfrm>
            <a:off x="15782925" y="7810500"/>
            <a:ext cx="10668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结果归档</a:t>
            </a:r>
          </a:p>
        </p:txBody>
      </p:sp>
      <p:sp>
        <p:nvSpPr>
          <p:cNvPr id="100" name="drawio2pptx:shape:legend_flow"/>
          <p:cNvSpPr/>
          <p:nvPr/>
        </p:nvSpPr>
        <p:spPr>
          <a:xfrm>
            <a:off x="762000" y="9944100"/>
            <a:ext cx="50482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rawio2pptx:shape:legend_flow_label"/>
          <p:cNvSpPr/>
          <p:nvPr/>
        </p:nvSpPr>
        <p:spPr>
          <a:xfrm>
            <a:off x="1409700" y="9810750"/>
            <a:ext cx="1714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调用 / 数据</a:t>
            </a:r>
          </a:p>
        </p:txBody>
      </p:sp>
      <p:sp>
        <p:nvSpPr>
          <p:cNvPr id="102" name="drawio2pptx:shape:legend_feedback"/>
          <p:cNvSpPr/>
          <p:nvPr/>
        </p:nvSpPr>
        <p:spPr>
          <a:xfrm>
            <a:off x="3333750" y="9944100"/>
            <a:ext cx="504825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rawio2pptx:shape:legend_feedback_label"/>
          <p:cNvSpPr/>
          <p:nvPr/>
        </p:nvSpPr>
        <p:spPr>
          <a:xfrm>
            <a:off x="3981450" y="9810750"/>
            <a:ext cx="1905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事实与证据回流</a:t>
            </a:r>
          </a:p>
        </p:txBody>
      </p:sp>
      <p:sp>
        <p:nvSpPr>
          <p:cNvPr id="104" name="drawio2pptx:shape:legend_support_0"/>
          <p:cNvSpPr/>
          <p:nvPr/>
        </p:nvSpPr>
        <p:spPr>
          <a:xfrm>
            <a:off x="6334125" y="9944100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rawio2pptx:shape:legend_support_1"/>
          <p:cNvSpPr/>
          <p:nvPr/>
        </p:nvSpPr>
        <p:spPr>
          <a:xfrm>
            <a:off x="6524625" y="9944100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rawio2pptx:shape:legend_support_2"/>
          <p:cNvSpPr/>
          <p:nvPr/>
        </p:nvSpPr>
        <p:spPr>
          <a:xfrm>
            <a:off x="6715125" y="9944100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rawio2pptx:shape:legend_support_label"/>
          <p:cNvSpPr/>
          <p:nvPr/>
        </p:nvSpPr>
        <p:spPr>
          <a:xfrm>
            <a:off x="6981825" y="9810750"/>
            <a:ext cx="2476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模型接入 / 归档</a:t>
            </a:r>
          </a:p>
        </p:txBody>
      </p:sp>
      <p:sp>
        <p:nvSpPr>
          <p:cNvPr id="108" name="drawio2pptx:shape:footer"/>
          <p:cNvSpPr/>
          <p:nvPr/>
        </p:nvSpPr>
        <p:spPr>
          <a:xfrm>
            <a:off x="13335000" y="9810750"/>
            <a:ext cx="42862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基于当前代码核对 · 2026-10-03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