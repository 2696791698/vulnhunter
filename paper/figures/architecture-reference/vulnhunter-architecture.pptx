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ackground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heade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header_rul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666750" y="247650"/>
            <a:ext cx="1333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Microsoft YaHei"/>
              </a:rPr>
              <a:t>VulnHunter 分析与利用架构</a:t>
            </a:r>
          </a:p>
        </p:txBody>
      </p:sp>
      <p:sp>
        <p:nvSpPr>
          <p:cNvPr id="6" name="drawio2pptx:shape:subtitle"/>
          <p:cNvSpPr/>
          <p:nvPr/>
        </p:nvSpPr>
        <p:spPr>
          <a:xfrm>
            <a:off x="666750" y="733425"/>
            <a:ext cx="14097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DCE4F1"/>
                </a:solidFill>
                <a:latin typeface="Microsoft YaHei"/>
              </a:rPr>
              <a:t>上下文输入 → 静态分析 → 攻击规划 → 动态验证 → PoC 与漏洞报告</a:t>
            </a:r>
          </a:p>
        </p:txBody>
      </p:sp>
      <p:sp>
        <p:nvSpPr>
          <p:cNvPr id="7" name="drawio2pptx:shape:header_tag"/>
          <p:cNvSpPr/>
          <p:nvPr/>
        </p:nvSpPr>
        <p:spPr>
          <a:xfrm>
            <a:off x="14382750" y="457200"/>
            <a:ext cx="32385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DCE4F1"/>
                </a:solidFill>
                <a:latin typeface="Microsoft YaHei"/>
              </a:rPr>
              <a:t>ANALYSIS &amp; EXPLOITATION</a:t>
            </a:r>
          </a:p>
        </p:txBody>
      </p:sp>
      <p:sp>
        <p:nvSpPr>
          <p:cNvPr id="8" name="drawio2pptx:shape:inputs"/>
          <p:cNvSpPr/>
          <p:nvPr/>
        </p:nvSpPr>
        <p:spPr>
          <a:xfrm>
            <a:off x="619125" y="1571625"/>
            <a:ext cx="4381500" cy="5762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rawio2pptx:shape:input_heading"/>
          <p:cNvSpPr/>
          <p:nvPr/>
        </p:nvSpPr>
        <p:spPr>
          <a:xfrm>
            <a:off x="857250" y="1733550"/>
            <a:ext cx="385762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上下文输入与 LLM</a:t>
            </a:r>
          </a:p>
        </p:txBody>
      </p:sp>
      <p:sp>
        <p:nvSpPr>
          <p:cNvPr id="10" name="drawio2pptx:shape:prompt"/>
          <p:cNvSpPr/>
          <p:nvPr/>
        </p:nvSpPr>
        <p:spPr>
          <a:xfrm>
            <a:off x="904875" y="2428875"/>
            <a:ext cx="2095500" cy="9525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prompt_title"/>
          <p:cNvSpPr/>
          <p:nvPr/>
        </p:nvSpPr>
        <p:spPr>
          <a:xfrm>
            <a:off x="1114425" y="2562225"/>
            <a:ext cx="1676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审计提示词</a:t>
            </a:r>
          </a:p>
        </p:txBody>
      </p:sp>
      <p:sp>
        <p:nvSpPr>
          <p:cNvPr id="12" name="drawio2pptx:shape:prompt_body_0"/>
          <p:cNvSpPr/>
          <p:nvPr/>
        </p:nvSpPr>
        <p:spPr>
          <a:xfrm>
            <a:off x="1114425" y="2933700"/>
            <a:ext cx="1676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Prompt</a:t>
            </a:r>
          </a:p>
        </p:txBody>
      </p:sp>
      <p:sp>
        <p:nvSpPr>
          <p:cNvPr id="13" name="drawio2pptx:shape:tree"/>
          <p:cNvSpPr/>
          <p:nvPr/>
        </p:nvSpPr>
        <p:spPr>
          <a:xfrm>
            <a:off x="3333750" y="2428875"/>
            <a:ext cx="1381125" cy="1047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rawio2pptx:shape:tree_title"/>
          <p:cNvSpPr/>
          <p:nvPr/>
        </p:nvSpPr>
        <p:spPr>
          <a:xfrm>
            <a:off x="3543300" y="2562225"/>
            <a:ext cx="96202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B2A4A"/>
                </a:solidFill>
                <a:latin typeface="Microsoft YaHei"/>
              </a:rPr>
              <a:t>项目目录树</a:t>
            </a:r>
          </a:p>
        </p:txBody>
      </p:sp>
      <p:sp>
        <p:nvSpPr>
          <p:cNvPr id="15" name="drawio2pptx:shape:tree_en"/>
          <p:cNvSpPr/>
          <p:nvPr/>
        </p:nvSpPr>
        <p:spPr>
          <a:xfrm>
            <a:off x="3543300" y="2933700"/>
            <a:ext cx="96202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Directory Tree</a:t>
            </a:r>
          </a:p>
        </p:txBody>
      </p:sp>
      <p:sp>
        <p:nvSpPr>
          <p:cNvPr id="16" name="drawio2pptx:shape:codebase"/>
          <p:cNvSpPr/>
          <p:nvPr/>
        </p:nvSpPr>
        <p:spPr>
          <a:xfrm>
            <a:off x="904875" y="5238750"/>
            <a:ext cx="2095500" cy="12382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codebase_title"/>
          <p:cNvSpPr/>
          <p:nvPr/>
        </p:nvSpPr>
        <p:spPr>
          <a:xfrm>
            <a:off x="1114425" y="5372100"/>
            <a:ext cx="1676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代码仓库</a:t>
            </a:r>
          </a:p>
        </p:txBody>
      </p:sp>
      <p:sp>
        <p:nvSpPr>
          <p:cNvPr id="18" name="drawio2pptx:shape:codebase_body_0"/>
          <p:cNvSpPr/>
          <p:nvPr/>
        </p:nvSpPr>
        <p:spPr>
          <a:xfrm>
            <a:off x="1114425" y="5743575"/>
            <a:ext cx="1676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Codebase</a:t>
            </a:r>
          </a:p>
        </p:txBody>
      </p:sp>
      <p:sp>
        <p:nvSpPr>
          <p:cNvPr id="19" name="drawio2pptx:shape:codebase_body_1"/>
          <p:cNvSpPr/>
          <p:nvPr/>
        </p:nvSpPr>
        <p:spPr>
          <a:xfrm>
            <a:off x="1114425" y="6010275"/>
            <a:ext cx="1676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源代码与项目依赖</a:t>
            </a:r>
          </a:p>
        </p:txBody>
      </p:sp>
      <p:sp>
        <p:nvSpPr>
          <p:cNvPr id="20" name="drawio2pptx:shape:llm"/>
          <p:cNvSpPr/>
          <p:nvPr/>
        </p:nvSpPr>
        <p:spPr>
          <a:xfrm>
            <a:off x="3333750" y="4429125"/>
            <a:ext cx="1381125" cy="1095375"/>
          </a:xfrm>
          <a:prstGeom prst="roundRect">
            <a:avLst/>
          </a:prstGeom>
          <a:solidFill>
            <a:srgbClr val="EEF2F8"/>
          </a:solidFill>
          <a:ln w="14287">
            <a:solidFill>
              <a:srgbClr val="A7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rawio2pptx:shape:llm_title"/>
          <p:cNvSpPr/>
          <p:nvPr/>
        </p:nvSpPr>
        <p:spPr>
          <a:xfrm>
            <a:off x="3543300" y="4562475"/>
            <a:ext cx="96202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B2A4A"/>
                </a:solidFill>
                <a:latin typeface="Microsoft YaHei"/>
              </a:rPr>
              <a:t>LLM</a:t>
            </a:r>
          </a:p>
        </p:txBody>
      </p:sp>
      <p:sp>
        <p:nvSpPr>
          <p:cNvPr id="22" name="drawio2pptx:shape:llm_body_0"/>
          <p:cNvSpPr/>
          <p:nvPr/>
        </p:nvSpPr>
        <p:spPr>
          <a:xfrm>
            <a:off x="3543300" y="4933950"/>
            <a:ext cx="9620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推理与决策</a:t>
            </a:r>
          </a:p>
        </p:txBody>
      </p:sp>
      <p:sp>
        <p:nvSpPr>
          <p:cNvPr id="23" name="drawio2pptx:shape:static_group"/>
          <p:cNvSpPr/>
          <p:nvPr/>
        </p:nvSpPr>
        <p:spPr>
          <a:xfrm>
            <a:off x="5334000" y="1571625"/>
            <a:ext cx="9048750" cy="1905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rawio2pptx:shape:static_group_heading"/>
          <p:cNvSpPr/>
          <p:nvPr/>
        </p:nvSpPr>
        <p:spPr>
          <a:xfrm>
            <a:off x="5572125" y="1704975"/>
            <a:ext cx="84772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静态分析工具集</a:t>
            </a:r>
          </a:p>
        </p:txBody>
      </p:sp>
      <p:sp>
        <p:nvSpPr>
          <p:cNvPr id="25" name="drawio2pptx:shape:joern"/>
          <p:cNvSpPr/>
          <p:nvPr/>
        </p:nvSpPr>
        <p:spPr>
          <a:xfrm>
            <a:off x="5667375" y="2095500"/>
            <a:ext cx="2476500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rawio2pptx:shape:joern_title"/>
          <p:cNvSpPr/>
          <p:nvPr/>
        </p:nvSpPr>
        <p:spPr>
          <a:xfrm>
            <a:off x="5876925" y="2228850"/>
            <a:ext cx="2057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Joern</a:t>
            </a:r>
          </a:p>
        </p:txBody>
      </p:sp>
      <p:sp>
        <p:nvSpPr>
          <p:cNvPr id="27" name="drawio2pptx:shape:joern_body_0"/>
          <p:cNvSpPr/>
          <p:nvPr/>
        </p:nvSpPr>
        <p:spPr>
          <a:xfrm>
            <a:off x="5876925" y="2600325"/>
            <a:ext cx="2057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CPG · CodeBadger 接入</a:t>
            </a:r>
          </a:p>
        </p:txBody>
      </p:sp>
      <p:sp>
        <p:nvSpPr>
          <p:cNvPr id="28" name="drawio2pptx:shape:semgrep"/>
          <p:cNvSpPr/>
          <p:nvPr/>
        </p:nvSpPr>
        <p:spPr>
          <a:xfrm>
            <a:off x="8620125" y="2095500"/>
            <a:ext cx="2381250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rawio2pptx:shape:semgrep_title"/>
          <p:cNvSpPr/>
          <p:nvPr/>
        </p:nvSpPr>
        <p:spPr>
          <a:xfrm>
            <a:off x="8829675" y="2228850"/>
            <a:ext cx="1962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Semgrep</a:t>
            </a:r>
          </a:p>
        </p:txBody>
      </p:sp>
      <p:sp>
        <p:nvSpPr>
          <p:cNvPr id="30" name="drawio2pptx:shape:semgrep_body_0"/>
          <p:cNvSpPr/>
          <p:nvPr/>
        </p:nvSpPr>
        <p:spPr>
          <a:xfrm>
            <a:off x="8829675" y="2600325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规则扫描</a:t>
            </a:r>
          </a:p>
        </p:txBody>
      </p:sp>
      <p:sp>
        <p:nvSpPr>
          <p:cNvPr id="31" name="drawio2pptx:shape:codeql"/>
          <p:cNvSpPr/>
          <p:nvPr/>
        </p:nvSpPr>
        <p:spPr>
          <a:xfrm>
            <a:off x="11477625" y="2095500"/>
            <a:ext cx="2619375" cy="76200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rawio2pptx:shape:codeql_title"/>
          <p:cNvSpPr/>
          <p:nvPr/>
        </p:nvSpPr>
        <p:spPr>
          <a:xfrm>
            <a:off x="11687175" y="2228850"/>
            <a:ext cx="22002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CodeQL</a:t>
            </a:r>
          </a:p>
        </p:txBody>
      </p:sp>
      <p:sp>
        <p:nvSpPr>
          <p:cNvPr id="33" name="drawio2pptx:shape:codeql_body_0"/>
          <p:cNvSpPr/>
          <p:nvPr/>
        </p:nvSpPr>
        <p:spPr>
          <a:xfrm>
            <a:off x="11687175" y="2600325"/>
            <a:ext cx="22002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查询与数据流分析</a:t>
            </a:r>
          </a:p>
        </p:txBody>
      </p:sp>
      <p:sp>
        <p:nvSpPr>
          <p:cNvPr id="34" name="drawio2pptx:shape:static_tools"/>
          <p:cNvSpPr/>
          <p:nvPr/>
        </p:nvSpPr>
        <p:spPr>
          <a:xfrm>
            <a:off x="5667375" y="3048000"/>
            <a:ext cx="8429625" cy="3810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awio2pptx:shape:static_tools_title"/>
          <p:cNvSpPr/>
          <p:nvPr/>
        </p:nvSpPr>
        <p:spPr>
          <a:xfrm>
            <a:off x="5857875" y="3057525"/>
            <a:ext cx="804862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Microsoft YaHei"/>
              </a:rPr>
              <a:t>静态分析工具（Static Analysis Tools）</a:t>
            </a:r>
          </a:p>
        </p:txBody>
      </p:sp>
      <p:sp>
        <p:nvSpPr>
          <p:cNvPr id="36" name="drawio2pptx:shape:loop"/>
          <p:cNvSpPr/>
          <p:nvPr/>
        </p:nvSpPr>
        <p:spPr>
          <a:xfrm>
            <a:off x="5334000" y="3714750"/>
            <a:ext cx="9048750" cy="3619500"/>
          </a:xfrm>
          <a:prstGeom prst="roundRect">
            <a:avLst/>
          </a:prstGeom>
          <a:solidFill>
            <a:srgbClr val="EEF2F8"/>
          </a:solidFill>
          <a:ln w="17145">
            <a:solidFill>
              <a:srgbClr val="A7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awio2pptx:shape:loop_title"/>
          <p:cNvSpPr/>
          <p:nvPr/>
        </p:nvSpPr>
        <p:spPr>
          <a:xfrm>
            <a:off x="8191500" y="3838575"/>
            <a:ext cx="57150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分析与利用闭环</a:t>
            </a:r>
          </a:p>
        </p:txBody>
      </p:sp>
      <p:sp>
        <p:nvSpPr>
          <p:cNvPr id="38" name="drawio2pptx:shape:loop_en"/>
          <p:cNvSpPr/>
          <p:nvPr/>
        </p:nvSpPr>
        <p:spPr>
          <a:xfrm>
            <a:off x="8191500" y="4181475"/>
            <a:ext cx="571500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Analysis &amp; Exploitation Loop</a:t>
            </a:r>
          </a:p>
        </p:txBody>
      </p:sp>
      <p:sp>
        <p:nvSpPr>
          <p:cNvPr id="39" name="drawio2pptx:shape:static_analysis"/>
          <p:cNvSpPr/>
          <p:nvPr/>
        </p:nvSpPr>
        <p:spPr>
          <a:xfrm>
            <a:off x="5667375" y="4476750"/>
            <a:ext cx="2476500" cy="1047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awio2pptx:shape:static_analysis_title"/>
          <p:cNvSpPr/>
          <p:nvPr/>
        </p:nvSpPr>
        <p:spPr>
          <a:xfrm>
            <a:off x="5876925" y="4610100"/>
            <a:ext cx="2057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静态分析</a:t>
            </a:r>
          </a:p>
        </p:txBody>
      </p:sp>
      <p:sp>
        <p:nvSpPr>
          <p:cNvPr id="41" name="drawio2pptx:shape:static_analysis_body_0"/>
          <p:cNvSpPr/>
          <p:nvPr/>
        </p:nvSpPr>
        <p:spPr>
          <a:xfrm>
            <a:off x="5876925" y="4981575"/>
            <a:ext cx="2057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Static Analysis</a:t>
            </a:r>
          </a:p>
        </p:txBody>
      </p:sp>
      <p:sp>
        <p:nvSpPr>
          <p:cNvPr id="42" name="drawio2pptx:shape:static_analysis_body_1"/>
          <p:cNvSpPr/>
          <p:nvPr/>
        </p:nvSpPr>
        <p:spPr>
          <a:xfrm>
            <a:off x="5876925" y="5248275"/>
            <a:ext cx="2057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代码线索与风险路径</a:t>
            </a:r>
          </a:p>
        </p:txBody>
      </p:sp>
      <p:sp>
        <p:nvSpPr>
          <p:cNvPr id="43" name="drawio2pptx:shape:attack_planning"/>
          <p:cNvSpPr/>
          <p:nvPr/>
        </p:nvSpPr>
        <p:spPr>
          <a:xfrm>
            <a:off x="8620125" y="4476750"/>
            <a:ext cx="2381250" cy="1047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awio2pptx:shape:attack_planning_title"/>
          <p:cNvSpPr/>
          <p:nvPr/>
        </p:nvSpPr>
        <p:spPr>
          <a:xfrm>
            <a:off x="8829675" y="4610100"/>
            <a:ext cx="1962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攻击规划</a:t>
            </a:r>
          </a:p>
        </p:txBody>
      </p:sp>
      <p:sp>
        <p:nvSpPr>
          <p:cNvPr id="45" name="drawio2pptx:shape:attack_planning_body_0"/>
          <p:cNvSpPr/>
          <p:nvPr/>
        </p:nvSpPr>
        <p:spPr>
          <a:xfrm>
            <a:off x="8829675" y="4981575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Attack Planning</a:t>
            </a:r>
          </a:p>
        </p:txBody>
      </p:sp>
      <p:sp>
        <p:nvSpPr>
          <p:cNvPr id="46" name="drawio2pptx:shape:attack_planning_body_1"/>
          <p:cNvSpPr/>
          <p:nvPr/>
        </p:nvSpPr>
        <p:spPr>
          <a:xfrm>
            <a:off x="8829675" y="5248275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构造可行的验证方案</a:t>
            </a:r>
          </a:p>
        </p:txBody>
      </p:sp>
      <p:sp>
        <p:nvSpPr>
          <p:cNvPr id="47" name="drawio2pptx:shape:dynamic"/>
          <p:cNvSpPr/>
          <p:nvPr/>
        </p:nvSpPr>
        <p:spPr>
          <a:xfrm>
            <a:off x="11572875" y="4476750"/>
            <a:ext cx="2524125" cy="1047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awio2pptx:shape:dynamic_title"/>
          <p:cNvSpPr/>
          <p:nvPr/>
        </p:nvSpPr>
        <p:spPr>
          <a:xfrm>
            <a:off x="11782425" y="4610100"/>
            <a:ext cx="210502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动态验证</a:t>
            </a:r>
          </a:p>
        </p:txBody>
      </p:sp>
      <p:sp>
        <p:nvSpPr>
          <p:cNvPr id="49" name="drawio2pptx:shape:dynamic_body_0"/>
          <p:cNvSpPr/>
          <p:nvPr/>
        </p:nvSpPr>
        <p:spPr>
          <a:xfrm>
            <a:off x="11782425" y="4981575"/>
            <a:ext cx="21050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Dynamic Verification</a:t>
            </a:r>
          </a:p>
        </p:txBody>
      </p:sp>
      <p:sp>
        <p:nvSpPr>
          <p:cNvPr id="50" name="drawio2pptx:shape:dynamic_body_1"/>
          <p:cNvSpPr/>
          <p:nvPr/>
        </p:nvSpPr>
        <p:spPr>
          <a:xfrm>
            <a:off x="11782425" y="5248275"/>
            <a:ext cx="21050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执行验证并观察安全影响</a:t>
            </a:r>
          </a:p>
        </p:txBody>
      </p:sp>
      <p:sp>
        <p:nvSpPr>
          <p:cNvPr id="51" name="drawio2pptx:shape:state"/>
          <p:cNvSpPr/>
          <p:nvPr/>
        </p:nvSpPr>
        <p:spPr>
          <a:xfrm>
            <a:off x="5667375" y="5953125"/>
            <a:ext cx="8429625" cy="1095375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rawio2pptx:shape:state_title"/>
          <p:cNvSpPr/>
          <p:nvPr/>
        </p:nvSpPr>
        <p:spPr>
          <a:xfrm>
            <a:off x="8572500" y="6029325"/>
            <a:ext cx="5286375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B2A4A"/>
                </a:solidFill>
                <a:latin typeface="Microsoft YaHei"/>
              </a:rPr>
              <a:t>状态管理 State Management</a:t>
            </a:r>
          </a:p>
        </p:txBody>
      </p:sp>
      <p:sp>
        <p:nvSpPr>
          <p:cNvPr id="53" name="drawio2pptx:shape:state_facts"/>
          <p:cNvSpPr/>
          <p:nvPr/>
        </p:nvSpPr>
        <p:spPr>
          <a:xfrm>
            <a:off x="5857875" y="6486525"/>
            <a:ext cx="1476375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事实与证据</a:t>
            </a:r>
          </a:p>
        </p:txBody>
      </p:sp>
      <p:sp>
        <p:nvSpPr>
          <p:cNvPr id="54" name="drawio2pptx:shape:blackboard"/>
          <p:cNvSpPr/>
          <p:nvPr/>
        </p:nvSpPr>
        <p:spPr>
          <a:xfrm>
            <a:off x="8096250" y="6496050"/>
            <a:ext cx="3905250" cy="428625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rawio2pptx:shape:blackboard_title"/>
          <p:cNvSpPr/>
          <p:nvPr/>
        </p:nvSpPr>
        <p:spPr>
          <a:xfrm>
            <a:off x="8239125" y="6515100"/>
            <a:ext cx="36195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黑板 Blackboard</a:t>
            </a:r>
          </a:p>
        </p:txBody>
      </p:sp>
      <p:sp>
        <p:nvSpPr>
          <p:cNvPr id="56" name="drawio2pptx:shape:output"/>
          <p:cNvSpPr/>
          <p:nvPr/>
        </p:nvSpPr>
        <p:spPr>
          <a:xfrm>
            <a:off x="15144750" y="4381500"/>
            <a:ext cx="2524125" cy="1714500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rawio2pptx:shape:output_poc"/>
          <p:cNvSpPr/>
          <p:nvPr/>
        </p:nvSpPr>
        <p:spPr>
          <a:xfrm>
            <a:off x="15354300" y="4543425"/>
            <a:ext cx="210502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PoC 生成</a:t>
            </a:r>
          </a:p>
        </p:txBody>
      </p:sp>
      <p:sp>
        <p:nvSpPr>
          <p:cNvPr id="58" name="drawio2pptx:shape:output_report"/>
          <p:cNvSpPr/>
          <p:nvPr/>
        </p:nvSpPr>
        <p:spPr>
          <a:xfrm>
            <a:off x="15354300" y="4895850"/>
            <a:ext cx="2105025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漏洞报告</a:t>
            </a:r>
          </a:p>
        </p:txBody>
      </p:sp>
      <p:sp>
        <p:nvSpPr>
          <p:cNvPr id="59" name="drawio2pptx:shape:output_en1"/>
          <p:cNvSpPr/>
          <p:nvPr/>
        </p:nvSpPr>
        <p:spPr>
          <a:xfrm>
            <a:off x="15354300" y="5276850"/>
            <a:ext cx="210502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Microsoft YaHei"/>
              </a:rPr>
              <a:t>PoC Generation &amp;</a:t>
            </a:r>
          </a:p>
        </p:txBody>
      </p:sp>
      <p:sp>
        <p:nvSpPr>
          <p:cNvPr id="60" name="drawio2pptx:shape:output_en2"/>
          <p:cNvSpPr/>
          <p:nvPr/>
        </p:nvSpPr>
        <p:spPr>
          <a:xfrm>
            <a:off x="15354300" y="5514975"/>
            <a:ext cx="210502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Microsoft YaHei"/>
              </a:rPr>
              <a:t>Vulnerability Report</a:t>
            </a:r>
          </a:p>
        </p:txBody>
      </p:sp>
      <p:sp>
        <p:nvSpPr>
          <p:cNvPr id="61" name="drawio2pptx:shape:output_evidence"/>
          <p:cNvSpPr/>
          <p:nvPr/>
        </p:nvSpPr>
        <p:spPr>
          <a:xfrm>
            <a:off x="15354300" y="5781675"/>
            <a:ext cx="210502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复现步骤 · 执行证据</a:t>
            </a:r>
          </a:p>
        </p:txBody>
      </p:sp>
      <p:sp>
        <p:nvSpPr>
          <p:cNvPr id="62" name="drawio2pptx:shape:docker"/>
          <p:cNvSpPr/>
          <p:nvPr/>
        </p:nvSpPr>
        <p:spPr>
          <a:xfrm>
            <a:off x="3476625" y="8334375"/>
            <a:ext cx="2381250" cy="1047750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rawio2pptx:shape:docker_title"/>
          <p:cNvSpPr/>
          <p:nvPr/>
        </p:nvSpPr>
        <p:spPr>
          <a:xfrm>
            <a:off x="3686175" y="8467725"/>
            <a:ext cx="1962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Docker 容器</a:t>
            </a:r>
          </a:p>
        </p:txBody>
      </p:sp>
      <p:sp>
        <p:nvSpPr>
          <p:cNvPr id="64" name="drawio2pptx:shape:docker_body_0"/>
          <p:cNvSpPr/>
          <p:nvPr/>
        </p:nvSpPr>
        <p:spPr>
          <a:xfrm>
            <a:off x="3686175" y="8839200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Docker Container</a:t>
            </a:r>
          </a:p>
        </p:txBody>
      </p:sp>
      <p:sp>
        <p:nvSpPr>
          <p:cNvPr id="65" name="drawio2pptx:shape:docker_body_1"/>
          <p:cNvSpPr/>
          <p:nvPr/>
        </p:nvSpPr>
        <p:spPr>
          <a:xfrm>
            <a:off x="3686175" y="9105900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代码挂载与受控执行</a:t>
            </a:r>
          </a:p>
        </p:txBody>
      </p:sp>
      <p:sp>
        <p:nvSpPr>
          <p:cNvPr id="66" name="drawio2pptx:shape:shell"/>
          <p:cNvSpPr/>
          <p:nvPr/>
        </p:nvSpPr>
        <p:spPr>
          <a:xfrm>
            <a:off x="6667500" y="7953375"/>
            <a:ext cx="2381250" cy="809625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rawio2pptx:shape:shell_title"/>
          <p:cNvSpPr/>
          <p:nvPr/>
        </p:nvSpPr>
        <p:spPr>
          <a:xfrm>
            <a:off x="6877050" y="8086725"/>
            <a:ext cx="1962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交互式 Shell</a:t>
            </a:r>
          </a:p>
        </p:txBody>
      </p:sp>
      <p:sp>
        <p:nvSpPr>
          <p:cNvPr id="68" name="drawio2pptx:shape:shell_body_0"/>
          <p:cNvSpPr/>
          <p:nvPr/>
        </p:nvSpPr>
        <p:spPr>
          <a:xfrm>
            <a:off x="6877050" y="8458200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Interactive Shell</a:t>
            </a:r>
          </a:p>
        </p:txBody>
      </p:sp>
      <p:sp>
        <p:nvSpPr>
          <p:cNvPr id="69" name="drawio2pptx:shape:creation"/>
          <p:cNvSpPr/>
          <p:nvPr/>
        </p:nvSpPr>
        <p:spPr>
          <a:xfrm>
            <a:off x="6667500" y="9048750"/>
            <a:ext cx="2381250" cy="762000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rawio2pptx:shape:creation_title"/>
          <p:cNvSpPr/>
          <p:nvPr/>
        </p:nvSpPr>
        <p:spPr>
          <a:xfrm>
            <a:off x="6877050" y="9182100"/>
            <a:ext cx="1962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容器创建</a:t>
            </a:r>
          </a:p>
        </p:txBody>
      </p:sp>
      <p:sp>
        <p:nvSpPr>
          <p:cNvPr id="71" name="drawio2pptx:shape:creation_body_0"/>
          <p:cNvSpPr/>
          <p:nvPr/>
        </p:nvSpPr>
        <p:spPr>
          <a:xfrm>
            <a:off x="6877050" y="9553575"/>
            <a:ext cx="196215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Container Creation</a:t>
            </a:r>
          </a:p>
        </p:txBody>
      </p:sp>
      <p:sp>
        <p:nvSpPr>
          <p:cNvPr id="72" name="drawio2pptx:shape:subagent"/>
          <p:cNvSpPr/>
          <p:nvPr/>
        </p:nvSpPr>
        <p:spPr>
          <a:xfrm>
            <a:off x="11191875" y="7953375"/>
            <a:ext cx="3143250" cy="1857375"/>
          </a:xfrm>
          <a:prstGeom prst="roundRect">
            <a:avLst/>
          </a:prstGeom>
          <a:solidFill>
            <a:srgbClr val="FFF9EB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rawio2pptx:shape:subagent_title"/>
          <p:cNvSpPr/>
          <p:nvPr/>
        </p:nvSpPr>
        <p:spPr>
          <a:xfrm>
            <a:off x="11430000" y="8058150"/>
            <a:ext cx="26670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B2A4A"/>
                </a:solidFill>
                <a:latin typeface="Microsoft YaHei"/>
              </a:rPr>
              <a:t>子 Agent（Subagent）</a:t>
            </a:r>
          </a:p>
        </p:txBody>
      </p:sp>
      <p:sp>
        <p:nvSpPr>
          <p:cNvPr id="74" name="drawio2pptx:shape:executor"/>
          <p:cNvSpPr/>
          <p:nvPr/>
        </p:nvSpPr>
        <p:spPr>
          <a:xfrm>
            <a:off x="11525250" y="8477250"/>
            <a:ext cx="2476500" cy="1047750"/>
          </a:xfrm>
          <a:prstGeom prst="roundRect">
            <a:avLst/>
          </a:prstGeom>
          <a:solidFill>
            <a:srgbClr val="FFFFFF"/>
          </a:solidFill>
          <a:ln w="14287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rawio2pptx:shape:executor_title"/>
          <p:cNvSpPr/>
          <p:nvPr/>
        </p:nvSpPr>
        <p:spPr>
          <a:xfrm>
            <a:off x="11734800" y="8610600"/>
            <a:ext cx="2057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B2A4A"/>
                </a:solidFill>
                <a:latin typeface="Microsoft YaHei"/>
              </a:rPr>
              <a:t>Executor</a:t>
            </a:r>
          </a:p>
        </p:txBody>
      </p:sp>
      <p:sp>
        <p:nvSpPr>
          <p:cNvPr id="76" name="drawio2pptx:shape:executor_body_0"/>
          <p:cNvSpPr/>
          <p:nvPr/>
        </p:nvSpPr>
        <p:spPr>
          <a:xfrm>
            <a:off x="11734800" y="8982075"/>
            <a:ext cx="2057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动态操作与执行证据</a:t>
            </a:r>
          </a:p>
        </p:txBody>
      </p:sp>
      <p:sp>
        <p:nvSpPr>
          <p:cNvPr id="77" name="drawio2pptx:shape:executor_body_1"/>
          <p:cNvSpPr/>
          <p:nvPr/>
        </p:nvSpPr>
        <p:spPr>
          <a:xfrm>
            <a:off x="11734800" y="9248775"/>
            <a:ext cx="2057400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容器工具 · 追加黑板</a:t>
            </a:r>
          </a:p>
        </p:txBody>
      </p:sp>
      <p:sp>
        <p:nvSpPr>
          <p:cNvPr id="78" name="drawio2pptx:connector:prompt_llm"/>
          <p:cNvSpPr/>
          <p:nvPr/>
        </p:nvSpPr>
        <p:spPr>
          <a:xfrm>
            <a:off x="3000375" y="29051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171450" y="0"/>
                </a:lnTo>
                <a:lnTo>
                  <a:pt x="171450" y="1762125"/>
                </a:lnTo>
                <a:lnTo>
                  <a:pt x="333375" y="1762125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drawio2pptx:connector:tree_llm"/>
          <p:cNvCxnSpPr/>
          <p:nvPr/>
        </p:nvCxnSpPr>
        <p:spPr>
          <a:xfrm>
            <a:off x="3971925" y="3476625"/>
            <a:ext cx="0" cy="95250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rawio2pptx:shape:tree_relation"/>
          <p:cNvSpPr/>
          <p:nvPr/>
        </p:nvSpPr>
        <p:spPr>
          <a:xfrm>
            <a:off x="4067175" y="3905250"/>
            <a:ext cx="790575" cy="257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目录结构</a:t>
            </a:r>
          </a:p>
        </p:txBody>
      </p:sp>
      <p:sp>
        <p:nvSpPr>
          <p:cNvPr id="81" name="drawio2pptx:connector:code_llm"/>
          <p:cNvSpPr/>
          <p:nvPr/>
        </p:nvSpPr>
        <p:spPr>
          <a:xfrm>
            <a:off x="3000375" y="5191125"/>
            <a:ext cx="333375" cy="666750"/>
          </a:xfrm>
          <a:custGeom>
            <a:avLst/>
            <a:gdLst/>
            <a:ahLst/>
            <a:cxnLst/>
            <a:rect l="l" t="t" r="r" b="b"/>
            <a:pathLst>
              <a:path w="333375" h="666750">
                <a:moveTo>
                  <a:pt x="0" y="666750"/>
                </a:moveTo>
                <a:lnTo>
                  <a:pt x="171450" y="666750"/>
                </a:lnTo>
                <a:lnTo>
                  <a:pt x="171450" y="0"/>
                </a:lnTo>
                <a:lnTo>
                  <a:pt x="333375" y="0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drawio2pptx:connector:llm_loop"/>
          <p:cNvCxnSpPr/>
          <p:nvPr/>
        </p:nvCxnSpPr>
        <p:spPr>
          <a:xfrm>
            <a:off x="4714875" y="4981575"/>
            <a:ext cx="619125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drawio2pptx:connector:joern_tools"/>
          <p:cNvCxnSpPr/>
          <p:nvPr/>
        </p:nvCxnSpPr>
        <p:spPr>
          <a:xfrm>
            <a:off x="6905625" y="2857500"/>
            <a:ext cx="0" cy="19050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drawio2pptx:connector:semgrep_tools"/>
          <p:cNvCxnSpPr/>
          <p:nvPr/>
        </p:nvCxnSpPr>
        <p:spPr>
          <a:xfrm>
            <a:off x="9810750" y="2857500"/>
            <a:ext cx="0" cy="19050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drawio2pptx:connector:codeql_tools"/>
          <p:cNvCxnSpPr/>
          <p:nvPr/>
        </p:nvCxnSpPr>
        <p:spPr>
          <a:xfrm>
            <a:off x="12792075" y="2857500"/>
            <a:ext cx="0" cy="19050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drawio2pptx:connector:tools_static"/>
          <p:cNvCxnSpPr/>
          <p:nvPr/>
        </p:nvCxnSpPr>
        <p:spPr>
          <a:xfrm>
            <a:off x="6905625" y="3429000"/>
            <a:ext cx="0" cy="104775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drawio2pptx:shape:mcp_label"/>
          <p:cNvSpPr/>
          <p:nvPr/>
        </p:nvSpPr>
        <p:spPr>
          <a:xfrm>
            <a:off x="7115175" y="3743325"/>
            <a:ext cx="10191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MCP Server</a:t>
            </a:r>
          </a:p>
        </p:txBody>
      </p:sp>
      <p:cxnSp>
        <p:nvCxnSpPr>
          <p:cNvPr id="88" name="drawio2pptx:connector:loop_output"/>
          <p:cNvCxnSpPr/>
          <p:nvPr/>
        </p:nvCxnSpPr>
        <p:spPr>
          <a:xfrm>
            <a:off x="14382750" y="5000625"/>
            <a:ext cx="762000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drawio2pptx:connector:volume"/>
          <p:cNvSpPr/>
          <p:nvPr/>
        </p:nvSpPr>
        <p:spPr>
          <a:xfrm>
            <a:off x="1952625" y="6477000"/>
            <a:ext cx="1524000" cy="2381250"/>
          </a:xfrm>
          <a:custGeom>
            <a:avLst/>
            <a:gdLst/>
            <a:ahLst/>
            <a:cxnLst/>
            <a:rect l="l" t="t" r="r" b="b"/>
            <a:pathLst>
              <a:path w="1524000" h="2381250">
                <a:moveTo>
                  <a:pt x="0" y="0"/>
                </a:moveTo>
                <a:lnTo>
                  <a:pt x="0" y="2381250"/>
                </a:lnTo>
                <a:lnTo>
                  <a:pt x="1524000" y="2381250"/>
                </a:lnTo>
              </a:path>
            </a:pathLst>
          </a:custGeom>
          <a:noFill/>
          <a:ln w="20955">
            <a:solidFill>
              <a:srgbClr val="4A5568"/>
            </a:solidFill>
            <a:prstDash val="dash"/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rawio2pptx:shape:volume_label"/>
          <p:cNvSpPr/>
          <p:nvPr/>
        </p:nvSpPr>
        <p:spPr>
          <a:xfrm>
            <a:off x="2124075" y="7429500"/>
            <a:ext cx="13335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Microsoft YaHei"/>
              </a:rPr>
              <a:t>Volume 挂载</a:t>
            </a:r>
          </a:p>
        </p:txBody>
      </p:sp>
      <p:sp>
        <p:nvSpPr>
          <p:cNvPr id="91" name="drawio2pptx:connector:docker_shell"/>
          <p:cNvSpPr/>
          <p:nvPr/>
        </p:nvSpPr>
        <p:spPr>
          <a:xfrm>
            <a:off x="5857875" y="8362950"/>
            <a:ext cx="809625" cy="257175"/>
          </a:xfrm>
          <a:custGeom>
            <a:avLst/>
            <a:gdLst/>
            <a:ahLst/>
            <a:cxnLst/>
            <a:rect l="l" t="t" r="r" b="b"/>
            <a:pathLst>
              <a:path w="809625" h="257175">
                <a:moveTo>
                  <a:pt x="0" y="257175"/>
                </a:moveTo>
                <a:lnTo>
                  <a:pt x="333375" y="257175"/>
                </a:lnTo>
                <a:lnTo>
                  <a:pt x="333375" y="0"/>
                </a:lnTo>
                <a:lnTo>
                  <a:pt x="809625" y="0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rawio2pptx:connector:docker_creation"/>
          <p:cNvSpPr/>
          <p:nvPr/>
        </p:nvSpPr>
        <p:spPr>
          <a:xfrm>
            <a:off x="5857875" y="9096375"/>
            <a:ext cx="809625" cy="333375"/>
          </a:xfrm>
          <a:custGeom>
            <a:avLst/>
            <a:gdLst/>
            <a:ahLst/>
            <a:cxnLst/>
            <a:rect l="l" t="t" r="r" b="b"/>
            <a:pathLst>
              <a:path w="80962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809625" y="333375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rawio2pptx:connector:shell_executor"/>
          <p:cNvSpPr/>
          <p:nvPr/>
        </p:nvSpPr>
        <p:spPr>
          <a:xfrm>
            <a:off x="9048750" y="8362950"/>
            <a:ext cx="2143125" cy="66675"/>
          </a:xfrm>
          <a:custGeom>
            <a:avLst/>
            <a:gdLst/>
            <a:ahLst/>
            <a:cxnLst/>
            <a:rect l="l" t="t" r="r" b="b"/>
            <a:pathLst>
              <a:path w="2143125" h="66675">
                <a:moveTo>
                  <a:pt x="0" y="0"/>
                </a:moveTo>
                <a:lnTo>
                  <a:pt x="476250" y="0"/>
                </a:lnTo>
                <a:lnTo>
                  <a:pt x="476250" y="66675"/>
                </a:lnTo>
                <a:lnTo>
                  <a:pt x="2143125" y="66675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rawio2pptx:connector:creation_executor"/>
          <p:cNvSpPr/>
          <p:nvPr/>
        </p:nvSpPr>
        <p:spPr>
          <a:xfrm>
            <a:off x="9048750" y="9334500"/>
            <a:ext cx="2143125" cy="95250"/>
          </a:xfrm>
          <a:custGeom>
            <a:avLst/>
            <a:gdLst/>
            <a:ahLst/>
            <a:cxnLst/>
            <a:rect l="l" t="t" r="r" b="b"/>
            <a:pathLst>
              <a:path w="2143125" h="95250">
                <a:moveTo>
                  <a:pt x="0" y="95250"/>
                </a:moveTo>
                <a:lnTo>
                  <a:pt x="476250" y="95250"/>
                </a:lnTo>
                <a:lnTo>
                  <a:pt x="476250" y="0"/>
                </a:lnTo>
                <a:lnTo>
                  <a:pt x="2143125" y="0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rawio2pptx:shape:docker_mcp_label"/>
          <p:cNvSpPr/>
          <p:nvPr/>
        </p:nvSpPr>
        <p:spPr>
          <a:xfrm>
            <a:off x="9715500" y="8763000"/>
            <a:ext cx="1285875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docker-mcp</a:t>
            </a:r>
          </a:p>
        </p:txBody>
      </p:sp>
      <p:sp>
        <p:nvSpPr>
          <p:cNvPr id="96" name="drawio2pptx:connector:executor_dynamic"/>
          <p:cNvSpPr/>
          <p:nvPr/>
        </p:nvSpPr>
        <p:spPr>
          <a:xfrm>
            <a:off x="12811125" y="5334000"/>
            <a:ext cx="1905000" cy="2619375"/>
          </a:xfrm>
          <a:custGeom>
            <a:avLst/>
            <a:gdLst/>
            <a:ahLst/>
            <a:cxnLst/>
            <a:rect l="l" t="t" r="r" b="b"/>
            <a:pathLst>
              <a:path w="1905000" h="2619375">
                <a:moveTo>
                  <a:pt x="0" y="2619375"/>
                </a:moveTo>
                <a:lnTo>
                  <a:pt x="0" y="2286000"/>
                </a:lnTo>
                <a:lnTo>
                  <a:pt x="1905000" y="2286000"/>
                </a:lnTo>
                <a:lnTo>
                  <a:pt x="1905000" y="0"/>
                </a:lnTo>
                <a:lnTo>
                  <a:pt x="1285875" y="0"/>
                </a:lnTo>
              </a:path>
            </a:pathLst>
          </a:custGeom>
          <a:noFill/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rawio2pptx:shape:executor_dynamic_label"/>
          <p:cNvSpPr/>
          <p:nvPr/>
        </p:nvSpPr>
        <p:spPr>
          <a:xfrm>
            <a:off x="14878050" y="6810375"/>
            <a:ext cx="1381125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支撑动态验证</a:t>
            </a:r>
          </a:p>
        </p:txBody>
      </p:sp>
      <p:cxnSp>
        <p:nvCxnSpPr>
          <p:cNvPr id="98" name="drawio2pptx:connector:analysis_plan"/>
          <p:cNvCxnSpPr/>
          <p:nvPr/>
        </p:nvCxnSpPr>
        <p:spPr>
          <a:xfrm>
            <a:off x="8143875" y="5000625"/>
            <a:ext cx="476250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drawio2pptx:connector:plan_verify"/>
          <p:cNvCxnSpPr/>
          <p:nvPr/>
        </p:nvCxnSpPr>
        <p:spPr>
          <a:xfrm>
            <a:off x="11001375" y="5000625"/>
            <a:ext cx="571500" cy="0"/>
          </a:xfrm>
          <a:prstGeom prst="line">
            <a:avLst/>
          </a:prstGeom>
          <a:ln w="20955">
            <a:solidFill>
              <a:srgbClr val="1B2A4A"/>
            </a:solidFill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drawio2pptx:connector:verify_facts"/>
          <p:cNvSpPr/>
          <p:nvPr/>
        </p:nvSpPr>
        <p:spPr>
          <a:xfrm>
            <a:off x="12001500" y="5524500"/>
            <a:ext cx="809625" cy="1190625"/>
          </a:xfrm>
          <a:custGeom>
            <a:avLst/>
            <a:gdLst/>
            <a:ahLst/>
            <a:cxnLst/>
            <a:rect l="l" t="t" r="r" b="b"/>
            <a:pathLst>
              <a:path w="809625" h="1190625">
                <a:moveTo>
                  <a:pt x="809625" y="0"/>
                </a:moveTo>
                <a:lnTo>
                  <a:pt x="809625" y="1190625"/>
                </a:lnTo>
                <a:lnTo>
                  <a:pt x="0" y="1190625"/>
                </a:lnTo>
              </a:path>
            </a:pathLst>
          </a:custGeom>
          <a:noFill/>
          <a:ln w="20955">
            <a:solidFill>
              <a:srgbClr val="C9A84C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rawio2pptx:shape:verify_facts_label"/>
          <p:cNvSpPr/>
          <p:nvPr/>
        </p:nvSpPr>
        <p:spPr>
          <a:xfrm>
            <a:off x="12963525" y="6143625"/>
            <a:ext cx="10287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80661E"/>
                </a:solidFill>
                <a:latin typeface="Microsoft YaHei"/>
              </a:rPr>
              <a:t>追加验证事实</a:t>
            </a:r>
          </a:p>
        </p:txBody>
      </p:sp>
      <p:sp>
        <p:nvSpPr>
          <p:cNvPr id="102" name="drawio2pptx:connector:facts_analysis"/>
          <p:cNvSpPr/>
          <p:nvPr/>
        </p:nvSpPr>
        <p:spPr>
          <a:xfrm>
            <a:off x="7524750" y="5524500"/>
            <a:ext cx="571500" cy="1190625"/>
          </a:xfrm>
          <a:custGeom>
            <a:avLst/>
            <a:gdLst/>
            <a:ahLst/>
            <a:cxnLst/>
            <a:rect l="l" t="t" r="r" b="b"/>
            <a:pathLst>
              <a:path w="571500" h="1190625">
                <a:moveTo>
                  <a:pt x="571500" y="1190625"/>
                </a:moveTo>
                <a:lnTo>
                  <a:pt x="0" y="1190625"/>
                </a:lnTo>
                <a:lnTo>
                  <a:pt x="0" y="0"/>
                </a:lnTo>
              </a:path>
            </a:pathLst>
          </a:custGeom>
          <a:noFill/>
          <a:ln w="20955">
            <a:solidFill>
              <a:srgbClr val="C9A84C"/>
            </a:solidFill>
            <a:tailEnd type="stealth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rawio2pptx:shape:feedback_label"/>
          <p:cNvSpPr/>
          <p:nvPr/>
        </p:nvSpPr>
        <p:spPr>
          <a:xfrm>
            <a:off x="6610350" y="5648325"/>
            <a:ext cx="8572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80661E"/>
                </a:solidFill>
                <a:latin typeface="Microsoft YaHei"/>
              </a:rPr>
              <a:t>事实反馈</a:t>
            </a:r>
          </a:p>
        </p:txBody>
      </p:sp>
      <p:sp>
        <p:nvSpPr>
          <p:cNvPr id="104" name="drawio2pptx:shape:legend_flow"/>
          <p:cNvSpPr/>
          <p:nvPr/>
        </p:nvSpPr>
        <p:spPr>
          <a:xfrm>
            <a:off x="762000" y="10010775"/>
            <a:ext cx="45720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rawio2pptx:shape:legend_flow_label"/>
          <p:cNvSpPr/>
          <p:nvPr/>
        </p:nvSpPr>
        <p:spPr>
          <a:xfrm>
            <a:off x="1362075" y="9877425"/>
            <a:ext cx="20002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模块调用 / 数据流</a:t>
            </a:r>
          </a:p>
        </p:txBody>
      </p:sp>
      <p:sp>
        <p:nvSpPr>
          <p:cNvPr id="106" name="drawio2pptx:shape:legend_feedback"/>
          <p:cNvSpPr/>
          <p:nvPr/>
        </p:nvSpPr>
        <p:spPr>
          <a:xfrm>
            <a:off x="3714750" y="10010775"/>
            <a:ext cx="457200" cy="190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rawio2pptx:shape:legend_feedback_label"/>
          <p:cNvSpPr/>
          <p:nvPr/>
        </p:nvSpPr>
        <p:spPr>
          <a:xfrm>
            <a:off x="4314825" y="9877425"/>
            <a:ext cx="18097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状态与证据反馈</a:t>
            </a:r>
          </a:p>
        </p:txBody>
      </p:sp>
      <p:sp>
        <p:nvSpPr>
          <p:cNvPr id="108" name="drawio2pptx:shape:legend_mount_0"/>
          <p:cNvSpPr/>
          <p:nvPr/>
        </p:nvSpPr>
        <p:spPr>
          <a:xfrm>
            <a:off x="6524625" y="10010775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rawio2pptx:shape:legend_mount_1"/>
          <p:cNvSpPr/>
          <p:nvPr/>
        </p:nvSpPr>
        <p:spPr>
          <a:xfrm>
            <a:off x="6715125" y="10010775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rawio2pptx:shape:legend_mount_2"/>
          <p:cNvSpPr/>
          <p:nvPr/>
        </p:nvSpPr>
        <p:spPr>
          <a:xfrm>
            <a:off x="6905625" y="10010775"/>
            <a:ext cx="114300" cy="19050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rawio2pptx:shape:legend_mount_label"/>
          <p:cNvSpPr/>
          <p:nvPr/>
        </p:nvSpPr>
        <p:spPr>
          <a:xfrm>
            <a:off x="7172325" y="9877425"/>
            <a:ext cx="18097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Volume 挂载</a:t>
            </a:r>
          </a:p>
        </p:txBody>
      </p:sp>
      <p:sp>
        <p:nvSpPr>
          <p:cNvPr id="112" name="drawio2pptx:shape:footer"/>
          <p:cNvSpPr/>
          <p:nvPr/>
        </p:nvSpPr>
        <p:spPr>
          <a:xfrm>
            <a:off x="10810875" y="9877425"/>
            <a:ext cx="68580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Microsoft YaHei"/>
              </a:rPr>
              <a:t>关系依据：用户提供的 Architecture Diagram.drawio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